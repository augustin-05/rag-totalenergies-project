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0692AE-42D9-44DA-1EE0-F40451ADAA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2218C-57A1-8DE9-077E-287074169FC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D6FA4-A61B-674B-8700-7C7C80F024FB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C66B7E-A5C7-40D6-4D87-1512F8BA72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571EC-9D1B-292F-EE06-38C1A75D84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459AA8-6017-C248-9A17-C23B188AD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045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7008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1280160"/>
            <a:ext cx="1371600" cy="548640"/>
          </a:xfrm>
          <a:prstGeom prst="rect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2926080" cy="4800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ChromaDB &amp; Hugging Face LLMs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 flipV="1">
            <a:off x="640079" y="2416076"/>
            <a:ext cx="4447735" cy="7084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TotalEnergies Sustainability Report 2025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31546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1546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315468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1A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31546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66234" y="4720590"/>
            <a:ext cx="46462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Deep Learning — Bsc Data Science for Responsible Business  |  Centrale Lyon  |  2025–2026</a:t>
            </a:r>
            <a:endParaRPr 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666121-ABAB-E263-C65F-11579BA695D5}"/>
              </a:ext>
            </a:extLst>
          </p:cNvPr>
          <p:cNvSpPr txBox="1"/>
          <p:nvPr/>
        </p:nvSpPr>
        <p:spPr>
          <a:xfrm>
            <a:off x="485726" y="4747796"/>
            <a:ext cx="2211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COUVREUR Augustin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 &amp; Why?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enhances LLMs by grounding answers 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retrieved knowledge base — combining the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of search with the fluency of generation.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RAG: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hallucinate, lack domain knowledge, and have a fixed knowledge cutoff.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RAG: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grounded in real documents, factual, and up-to-date.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RETRIEVE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9472" y="14264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 → ChromaDB similarity 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0840" y="1920240"/>
            <a:ext cx="0" cy="27432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164592" cy="914400"/>
          </a:xfrm>
          <a:prstGeom prst="rect">
            <a:avLst/>
          </a:prstGeom>
          <a:solidFill>
            <a:srgbClr val="0A6E8A"/>
          </a:solidFill>
          <a:ln w="12700">
            <a:solidFill>
              <a:srgbClr val="0A6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AUGMENT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6151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retrieved chunks into prompt template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3108960"/>
            <a:ext cx="0" cy="27432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33832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164592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GENERATE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8039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produces a grounded, factual answer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TotalEnergies Sustainability Report 2025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56032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56032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051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(size 1000, overlap 200)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256032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035040" y="1719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(MiniLM-L6)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10972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72968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3118104"/>
            <a:ext cx="3273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structured PDF — ideal for chunking &amp; retrieval challenges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663440" y="29718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63440" y="2971800"/>
            <a:ext cx="10972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172968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21808" y="3118104"/>
            <a:ext cx="3273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ESG use case — rich factual content on emissions, targets, strategy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365760" y="39319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65760" y="3931920"/>
            <a:ext cx="10972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33088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24128" y="4078224"/>
            <a:ext cx="3273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domain vocabulary — tests embedding quality and retrieval precision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663440" y="39319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663440" y="3931920"/>
            <a:ext cx="10972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4133088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21808" y="4078224"/>
            <a:ext cx="3273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Q&amp;A use case — stakeholders often query ESG reports for specific targets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1691640"/>
            <a:ext cx="1261872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" y="2167128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517904" y="2240280"/>
            <a:ext cx="212141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730045" y="1691640"/>
            <a:ext cx="1261872" cy="1097280"/>
          </a:xfrm>
          <a:prstGeom prst="rect">
            <a:avLst/>
          </a:prstGeom>
          <a:solidFill>
            <a:srgbClr val="0A6E8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101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0045" y="2167128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638605" y="251460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991917" y="2240280"/>
            <a:ext cx="212141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04058" y="1691640"/>
            <a:ext cx="126187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2114" y="1783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04058" y="2167128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112618" y="251460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Top-8 similar chunks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465930" y="2240280"/>
            <a:ext cx="212141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678070" y="1691640"/>
            <a:ext cx="1261872" cy="1097280"/>
          </a:xfrm>
          <a:prstGeom prst="rect">
            <a:avLst/>
          </a:prstGeom>
          <a:solidFill>
            <a:srgbClr val="0A6E8A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126" y="17830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78070" y="2167128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86630" y="251460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template + keywords filter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939942" y="2240280"/>
            <a:ext cx="212141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152083" y="1691640"/>
            <a:ext cx="1261872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139" y="17830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152083" y="2167128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0.5B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060643" y="251460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CausalLM  T=0.2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7413955" y="2240280"/>
            <a:ext cx="212141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7626096" y="1691640"/>
            <a:ext cx="1261872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152" y="178308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626096" y="2167128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7534656" y="2514600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bullet points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256032" y="29260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730045" y="29260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3204058" y="29260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4678070" y="29260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6152083" y="29260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7626096" y="29260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Model: all-MiniLM-L6-v2  •  Vector DB: ChromaDB (PersistentClient)  •  LLM: Qwen/Qwen2.5-0.5B (CausalLM)  •  Interface: Gradio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Improvements — V1 to V5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Changed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6324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2356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/ Outcome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3258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(n=2)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basic prompt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FLAN-T5-base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3240" y="13258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instruction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132588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short answers. Prompt returned in output.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066544"/>
            <a:ext cx="502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066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020824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(n=8, cap 1500)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clearer prompt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fix output strip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63240" y="202082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echo fixed;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chunks retrieved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2020824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length, but context still noisy.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706624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761488"/>
            <a:ext cx="502920" cy="50292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761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71576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 labels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structured prompt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63240" y="271576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context even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good prompts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23560" y="271576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relevant chunks, but LLM still synthesizes poorly.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401568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456432"/>
            <a:ext cx="502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3456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41071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constraints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stricter instructions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63240" y="341071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inventing facts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context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23560" y="3410712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invented facts. LLM still limited by model size.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" y="4151376"/>
            <a:ext cx="50292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151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4105656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prompt: ONLY context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bullets max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T=0.2 (low temperature)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63240" y="410565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Verbose/hallucinated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from V4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23560" y="410565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Concise, factual, structured. Best overall output.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Q&amp;A Output — Final System (V5)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28016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Question: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280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TotalEnergies' main climate goals and targets?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128016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39112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18562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Goals &amp; Targets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216712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net Scope 1+2 emissions by 40% by 2030 relative to 2015, after mobilizing ~5 million credits from nature-based carbon sink projects.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7889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65760" y="2788920"/>
            <a:ext cx="128016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4495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51560" y="28620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Neutrality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51560" y="31729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the equivalent of 100 Mt/year of CO₂ generated by customers by developing carbon utilization (CCU) and carbon capture &amp; storage (CCS) solutions.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7947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5760" y="3794760"/>
            <a:ext cx="128016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50792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1560" y="38679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Principles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51560" y="4178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6 principles: recognizes science linking fossil fuels &amp; climate change, supports the Paris Agreement, and works within industry associations on climate action.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Qwen/Qwen2.5-0.5B  •  Retrieval: top-8 chunks with keyword filtering  •  Temperature: 0.2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704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Open-Source LLM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6002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Qwen2.5-0.5B has limited reasoning capacity. Larger models (1.5B, 7B+) would produce richer answers but require more compute.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27832" y="10058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17043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22192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Noise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64992" y="16002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filtering helps but is brittle. Semantic re-ranking (e.g. cross-encoder) would better prioritize relevant chunks.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89904" y="10058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17043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84264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 (max 512)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27064" y="16002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context window forces aggressive truncation. Switching to a model with a larger context window would allow richer prompts.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65760" y="29260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09067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Hallucinations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02920" y="35204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(0.2) and strict prompt constraints reduce but do not eliminate invented facts from the LLM.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27832" y="29260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090672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22192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364992" y="35204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 varies significantly with prompt wording. Minor changes to V5 produce noticeably different results.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089904" y="29260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090672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84264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227064" y="352044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(embed + query + generate) takes a few seconds per query on CPU. GPU inference would significantly speed this up.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12064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0467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2801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978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significantly improves factual answering over vanilla LLMs when querying private documents like ESG reports.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65760" y="1874520"/>
            <a:ext cx="80467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1874520"/>
            <a:ext cx="12801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0665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87452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proved efficient for semantic retrieval: 476 chunks indexed and queried in milliseconds.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65760" y="2743200"/>
            <a:ext cx="80467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65760" y="2743200"/>
            <a:ext cx="12801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93522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74320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 across 5 versions of retrieval, prompts, and generation led to measurable quality gains.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365760" y="3611880"/>
            <a:ext cx="80467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DDE6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365760" y="3611880"/>
            <a:ext cx="128016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0390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611880"/>
            <a:ext cx="7223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0.5B parameter model (Qwen2.5) can produce structured, factual answers when guided by a good prompt and clean context.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785</Words>
  <Application>Microsoft Macintosh PowerPoint</Application>
  <PresentationFormat>On-screen Show (16:9)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System – TotalEnergies ESG</dc:title>
  <dc:subject>PptxGenJS Presentation</dc:subject>
  <dc:creator>PptxGenJS</dc:creator>
  <cp:lastModifiedBy>COUVREUR Augustin</cp:lastModifiedBy>
  <cp:revision>2</cp:revision>
  <dcterms:created xsi:type="dcterms:W3CDTF">2026-04-21T19:28:05Z</dcterms:created>
  <dcterms:modified xsi:type="dcterms:W3CDTF">2026-04-21T20:00:12Z</dcterms:modified>
</cp:coreProperties>
</file>